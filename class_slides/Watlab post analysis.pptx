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7" r:id="rId2"/>
    <p:sldId id="835" r:id="rId3"/>
    <p:sldId id="837" r:id="rId4"/>
    <p:sldId id="827" r:id="rId5"/>
    <p:sldId id="838" r:id="rId6"/>
    <p:sldId id="826" r:id="rId7"/>
    <p:sldId id="839" r:id="rId8"/>
    <p:sldId id="828" r:id="rId9"/>
    <p:sldId id="831" r:id="rId10"/>
    <p:sldId id="832" r:id="rId11"/>
    <p:sldId id="833" r:id="rId12"/>
    <p:sldId id="829" r:id="rId13"/>
    <p:sldId id="830" r:id="rId14"/>
    <p:sldId id="840" r:id="rId15"/>
    <p:sldId id="842" r:id="rId16"/>
    <p:sldId id="841" r:id="rId17"/>
    <p:sldId id="824" r:id="rId18"/>
    <p:sldId id="825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172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F91FA-95AB-485E-9067-4C938B8CF2F7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2E28A-790D-4B87-8B86-68D942B58A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1912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6592EC-BE1B-4756-8709-E9288C120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EBB622D-F88D-4B8F-8C9B-A339A4D5D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2344B0-F76F-4DB2-82F2-4494FF3DF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FC509-3F76-431B-A1D0-87E53123FE7A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A8096B-9805-43D7-A47C-48F101CC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B51533-273D-4EC6-9F07-C84B6A05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4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A0EA0F-EFF6-43FC-BED6-6983CB7E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2299AC-6297-4AA3-AF3C-6F7FF4947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AC8004-6FED-418C-BF6E-73951A01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11826-4783-4100-B13B-933E261A3CBF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FC4A19-739F-446B-8E1A-B6AF28B6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786558-CBA3-4688-A9A5-E55DF1DF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065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0B6216-C485-4BDE-BDB3-5F39C61B5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7F1680-C649-476B-B9A9-67C8A2B0E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F61BEB-B646-43E0-9A19-1CB18AD9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68FE3-01E8-43B0-9A6A-E9318E407D2F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BDDF5C-811B-498E-B628-E11175C6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EB0CBE-0159-4C11-B2F4-7CD3A291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55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3F73DF-8E5F-4609-83D1-B2415EF9B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44FE5B-8E06-4954-9C1F-CFC863603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56A201-4698-4D21-B427-B2D5B913F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8C7344-8E5D-4995-BE8C-B79C44D7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98E8-7A82-4ACE-ABD1-EA12930659D4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ACC9F3-5CF4-4D3C-80E9-221B6D9EF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931100-4618-4B42-A7C2-5231C532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780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8DF179-600D-49C6-AB61-CAF571013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41DAD5F-CAD6-493C-9A31-CE5EB3DDB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EF1E537-5E4D-4E58-94C1-618CB3903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9C80A2A-AD65-477A-A8EE-E64D770A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2571AB-F37A-4FFA-8C42-62A6E71719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6C5174-B2DB-44F9-999E-EADBFECFC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A4B3-7416-4286-B59B-4AC6F5D32DDD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9257CD6-5B4A-455B-ACE5-13A6ACF3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9529637-E2C6-480F-BB2C-F6678A19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428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B14CB-0E76-4562-B741-D2D5D66B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4A881F1-8051-482C-AB35-A2F62720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043F-C911-4038-80C1-CC6728051269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FA515B4-1AD0-41F6-A021-2CDBF647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F9C4BB-8263-4D8A-8E37-3C2BBA46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681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5A0CB32-5F73-4B55-8E9B-D037B937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9192-D999-44F7-A8AF-66480FCA9E78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F51339E-0044-42B4-995D-63F8F6A8D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E9E0EA-5E48-4639-B18C-5DEF5ABF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7866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FC0976-A2AF-4552-B6D6-6496F59C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823219-5251-446A-8623-274D4C39E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2186484-C5D6-41C2-948F-D854F7EFC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1C5C58-D3A6-4DFC-B393-D9007D083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323D-94FF-40A8-8241-DFF544D8943B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78DA6C-A56B-4A7D-9B7B-61744F69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B10EC22-883E-40CD-B328-207008B6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756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288ACB-DC1A-4615-9EEF-C68939F2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7D8D9CA-36E5-4F9B-9CF8-2AB9D03A4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432124-B777-4052-B59E-1DDAD5FB3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D975AB1-7DB5-4B3F-A414-6497017A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120B-C5ED-4A07-A2A8-BFB08DCAF4F7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044982-AB68-46D2-941D-904DD6A3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0BD89B-12C0-4945-AAB6-339EEBE6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0869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D64C70-A19A-4E62-80F0-423B31F8F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069A469-D570-4A45-ABCF-FBF895EA0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E139F12-E25C-43F2-AD28-DCCF06793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CF9C-26B1-491F-84A8-98997329BFC8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3CC53C-EDD3-48BA-8D0F-77C56D1B3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5FE1EE-FE2B-4EC9-A660-39972E77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79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5F551F4-6FEF-47A3-8355-EECC01C33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0F94CA-F3F5-4C7D-B4A6-1EF1754AA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DD546A-6F50-4408-A943-3A9616E6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1E60-A0EE-4CBD-84BC-88BEDC682439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C985AD-9961-4282-94C1-3AFC4A17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5BC1B8-ADE1-4625-A0B3-430FD4C5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37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292FD3D-F094-477E-9BF1-D48C6F2C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A1C005-5BD3-4452-AB43-9AA99502F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3EA247-EA05-4A88-A102-63105700C6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18C57-AAA3-429C-B8C3-D4A46042B271}" type="datetime1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E29BF3-61A1-4281-B0E7-45BF79DED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39B220-DC4B-4B17-889E-C173AB44C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AFD3E-A272-4D0C-8493-26F3919826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2428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16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3.mp4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5E54D5-F143-424B-96F6-FCFC13C39A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Watlab</a:t>
            </a:r>
            <a:r>
              <a:rPr lang="en-US" altLang="zh-TW" dirty="0"/>
              <a:t> Flood Simulation post analysis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2517CE3-B5FE-4099-BAA5-B453AFB872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Yuan-Hung Chiu</a:t>
            </a:r>
          </a:p>
          <a:p>
            <a:r>
              <a:rPr lang="en-US" altLang="zh-TW" dirty="0"/>
              <a:t>2025/12/08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9286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8BCC64-A3D4-4652-9428-3781664CCD7C}"/>
              </a:ext>
            </a:extLst>
          </p:cNvPr>
          <p:cNvSpPr txBox="1"/>
          <p:nvPr/>
        </p:nvSpPr>
        <p:spPr>
          <a:xfrm>
            <a:off x="609600" y="563955"/>
            <a:ext cx="7503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Contents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B4B690-B910-45C3-B0D2-5A0BB9EA6509}"/>
              </a:ext>
            </a:extLst>
          </p:cNvPr>
          <p:cNvSpPr txBox="1"/>
          <p:nvPr/>
        </p:nvSpPr>
        <p:spPr>
          <a:xfrm>
            <a:off x="609599" y="1478355"/>
            <a:ext cx="1130617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TW" sz="3200" dirty="0"/>
              <a:t>Cross-section system construction</a:t>
            </a:r>
          </a:p>
          <a:p>
            <a:pPr marL="514350" indent="-514350">
              <a:buAutoNum type="arabicPeriod"/>
            </a:pPr>
            <a:r>
              <a:rPr lang="en-US" altLang="zh-TW" sz="3200" dirty="0"/>
              <a:t>Flood flow computation</a:t>
            </a:r>
          </a:p>
          <a:p>
            <a:pPr marL="514350" indent="-514350">
              <a:buAutoNum type="arabicPeriod"/>
            </a:pPr>
            <a:r>
              <a:rPr lang="en-US" altLang="zh-TW" sz="3200" dirty="0"/>
              <a:t>Wave propagation analysis</a:t>
            </a:r>
          </a:p>
          <a:p>
            <a:pPr marL="514350" indent="-514350">
              <a:buAutoNum type="arabicPeriod"/>
            </a:pPr>
            <a:r>
              <a:rPr lang="en-US" altLang="zh-TW" sz="3200" dirty="0"/>
              <a:t>Single-section analysis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08FD8A-5C73-4C2E-B24B-F0DB1266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FB88-A121-4C8A-8D1B-D8535CA0E9D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860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8BCC64-A3D4-4652-9428-3781664CCD7C}"/>
              </a:ext>
            </a:extLst>
          </p:cNvPr>
          <p:cNvSpPr txBox="1"/>
          <p:nvPr/>
        </p:nvSpPr>
        <p:spPr>
          <a:xfrm>
            <a:off x="609600" y="563955"/>
            <a:ext cx="7503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Contents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B4B690-B910-45C3-B0D2-5A0BB9EA6509}"/>
              </a:ext>
            </a:extLst>
          </p:cNvPr>
          <p:cNvSpPr txBox="1"/>
          <p:nvPr/>
        </p:nvSpPr>
        <p:spPr>
          <a:xfrm>
            <a:off x="609599" y="1478355"/>
            <a:ext cx="1130617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TW" sz="3200" dirty="0"/>
              <a:t>Cross-section system construction</a:t>
            </a:r>
          </a:p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Flood flow computation</a:t>
            </a:r>
          </a:p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Wave propagation analysis</a:t>
            </a:r>
          </a:p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Single-section analysis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08FD8A-5C73-4C2E-B24B-F0DB1266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FB88-A121-4C8A-8D1B-D8535CA0E9D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334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7212213-F3FF-4B8A-B290-A2B59F70D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383" y="0"/>
            <a:ext cx="5231484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3F795EC-6A18-4DBC-9F6F-7B5DA2503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08" y="0"/>
            <a:ext cx="5231484" cy="68580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4BA02A4-AB2C-4B2B-85A4-005024F92E2E}"/>
              </a:ext>
            </a:extLst>
          </p:cNvPr>
          <p:cNvSpPr txBox="1"/>
          <p:nvPr/>
        </p:nvSpPr>
        <p:spPr>
          <a:xfrm>
            <a:off x="2628901" y="-19050"/>
            <a:ext cx="127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Approach 1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0391AF4-FCC3-4BC9-A7E7-A207C6EB7DFC}"/>
              </a:ext>
            </a:extLst>
          </p:cNvPr>
          <p:cNvSpPr txBox="1"/>
          <p:nvPr/>
        </p:nvSpPr>
        <p:spPr>
          <a:xfrm>
            <a:off x="8486776" y="-19050"/>
            <a:ext cx="127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Approach 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F36C64-B7D2-44F1-A96F-EBC6C768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933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8BCC64-A3D4-4652-9428-3781664CCD7C}"/>
              </a:ext>
            </a:extLst>
          </p:cNvPr>
          <p:cNvSpPr txBox="1"/>
          <p:nvPr/>
        </p:nvSpPr>
        <p:spPr>
          <a:xfrm>
            <a:off x="609600" y="563955"/>
            <a:ext cx="7503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Contents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B4B690-B910-45C3-B0D2-5A0BB9EA6509}"/>
              </a:ext>
            </a:extLst>
          </p:cNvPr>
          <p:cNvSpPr txBox="1"/>
          <p:nvPr/>
        </p:nvSpPr>
        <p:spPr>
          <a:xfrm>
            <a:off x="609599" y="1478355"/>
            <a:ext cx="1130617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Cross-section system construction</a:t>
            </a:r>
          </a:p>
          <a:p>
            <a:pPr marL="514350" indent="-514350">
              <a:buAutoNum type="arabicPeriod"/>
            </a:pPr>
            <a:r>
              <a:rPr lang="en-US" altLang="zh-TW" sz="3200" dirty="0"/>
              <a:t>Flood flow computation</a:t>
            </a:r>
          </a:p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Wave propagation analysis</a:t>
            </a:r>
          </a:p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Single-section analysis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08FD8A-5C73-4C2E-B24B-F0DB1266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FB88-A121-4C8A-8D1B-D8535CA0E9D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761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17D2110-13A4-42E3-8FDF-56A208E14B9A}"/>
              </a:ext>
            </a:extLst>
          </p:cNvPr>
          <p:cNvSpPr txBox="1"/>
          <p:nvPr/>
        </p:nvSpPr>
        <p:spPr>
          <a:xfrm>
            <a:off x="263769" y="158262"/>
            <a:ext cx="3516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Compute the flood 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99BAA197-4F4B-4033-A68F-5BCF87E98231}"/>
              </a:ext>
            </a:extLst>
          </p:cNvPr>
          <p:cNvCxnSpPr>
            <a:cxnSpLocks/>
          </p:cNvCxnSpPr>
          <p:nvPr/>
        </p:nvCxnSpPr>
        <p:spPr>
          <a:xfrm flipH="1">
            <a:off x="34367" y="-46159"/>
            <a:ext cx="7084423" cy="690415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B989F21-030A-4585-B7F7-87CA8D3C664C}"/>
              </a:ext>
            </a:extLst>
          </p:cNvPr>
          <p:cNvCxnSpPr>
            <a:cxnSpLocks/>
          </p:cNvCxnSpPr>
          <p:nvPr/>
        </p:nvCxnSpPr>
        <p:spPr>
          <a:xfrm>
            <a:off x="5249008" y="1776046"/>
            <a:ext cx="0" cy="33674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BB60E55-3908-455D-8DA1-38BC8386F030}"/>
              </a:ext>
            </a:extLst>
          </p:cNvPr>
          <p:cNvCxnSpPr>
            <a:cxnSpLocks/>
          </p:cNvCxnSpPr>
          <p:nvPr/>
        </p:nvCxnSpPr>
        <p:spPr>
          <a:xfrm>
            <a:off x="1793631" y="5143500"/>
            <a:ext cx="34553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8AB18BC-9713-410D-96DC-81E716D8F993}"/>
              </a:ext>
            </a:extLst>
          </p:cNvPr>
          <p:cNvCxnSpPr>
            <a:cxnSpLocks/>
          </p:cNvCxnSpPr>
          <p:nvPr/>
        </p:nvCxnSpPr>
        <p:spPr>
          <a:xfrm>
            <a:off x="3516923" y="3429000"/>
            <a:ext cx="3363060" cy="1070429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3DB3EEBE-2393-4DA9-B0D8-494ADE69D11F}"/>
              </a:ext>
            </a:extLst>
          </p:cNvPr>
          <p:cNvSpPr/>
          <p:nvPr/>
        </p:nvSpPr>
        <p:spPr>
          <a:xfrm>
            <a:off x="1701312" y="5051181"/>
            <a:ext cx="184635" cy="18463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FD05E279-426D-4FCE-866B-B3DD5A3766CA}"/>
              </a:ext>
            </a:extLst>
          </p:cNvPr>
          <p:cNvSpPr/>
          <p:nvPr/>
        </p:nvSpPr>
        <p:spPr>
          <a:xfrm>
            <a:off x="5156690" y="1683727"/>
            <a:ext cx="184635" cy="18463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AE3D872-5296-40DB-AF81-0EDDC1AA3905}"/>
              </a:ext>
            </a:extLst>
          </p:cNvPr>
          <p:cNvCxnSpPr>
            <a:cxnSpLocks/>
          </p:cNvCxnSpPr>
          <p:nvPr/>
        </p:nvCxnSpPr>
        <p:spPr>
          <a:xfrm>
            <a:off x="3516922" y="3459773"/>
            <a:ext cx="3363061" cy="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A3571ED-326E-491A-B2A3-ADF786C0AA4B}"/>
              </a:ext>
            </a:extLst>
          </p:cNvPr>
          <p:cNvCxnSpPr>
            <a:cxnSpLocks/>
          </p:cNvCxnSpPr>
          <p:nvPr/>
        </p:nvCxnSpPr>
        <p:spPr>
          <a:xfrm>
            <a:off x="3516922" y="3459773"/>
            <a:ext cx="0" cy="1039656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8596823-51DA-4A08-97A1-4B5DBF432A7B}"/>
              </a:ext>
            </a:extLst>
          </p:cNvPr>
          <p:cNvCxnSpPr>
            <a:cxnSpLocks/>
          </p:cNvCxnSpPr>
          <p:nvPr/>
        </p:nvCxnSpPr>
        <p:spPr>
          <a:xfrm>
            <a:off x="3516922" y="4499429"/>
            <a:ext cx="3363061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C36D9A9D-AD8B-42C0-9F68-F803AC1825FD}"/>
              </a:ext>
            </a:extLst>
          </p:cNvPr>
          <p:cNvCxnSpPr>
            <a:cxnSpLocks/>
          </p:cNvCxnSpPr>
          <p:nvPr/>
        </p:nvCxnSpPr>
        <p:spPr>
          <a:xfrm>
            <a:off x="6879983" y="3459773"/>
            <a:ext cx="0" cy="103965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BE12283-41CA-41CD-9A38-74797FB5C71B}"/>
              </a:ext>
            </a:extLst>
          </p:cNvPr>
          <p:cNvSpPr txBox="1"/>
          <p:nvPr/>
        </p:nvSpPr>
        <p:spPr>
          <a:xfrm rot="18909453">
            <a:off x="1391233" y="4206871"/>
            <a:ext cx="1349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segment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物件 33">
            <a:extLst>
              <a:ext uri="{FF2B5EF4-FFF2-40B4-BE49-F238E27FC236}">
                <a16:creationId xmlns:a16="http://schemas.microsoft.com/office/drawing/2014/main" id="{7E7A046D-96FD-4DE3-87AD-A7423A90B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448670"/>
              </p:ext>
            </p:extLst>
          </p:nvPr>
        </p:nvGraphicFramePr>
        <p:xfrm>
          <a:off x="3199895" y="5143498"/>
          <a:ext cx="484079" cy="46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AxMath" r:id="rId3" imgW="238680" imgH="227160" progId="Equation.AxMath">
                  <p:embed/>
                </p:oleObj>
              </mc:Choice>
              <mc:Fallback>
                <p:oleObj name="AxMath" r:id="rId3" imgW="238680" imgH="22716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99895" y="5143498"/>
                        <a:ext cx="484079" cy="461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物件 34">
            <a:extLst>
              <a:ext uri="{FF2B5EF4-FFF2-40B4-BE49-F238E27FC236}">
                <a16:creationId xmlns:a16="http://schemas.microsoft.com/office/drawing/2014/main" id="{0B10FAE3-C092-4E7A-AB7D-6A1CDE97D4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041871"/>
              </p:ext>
            </p:extLst>
          </p:nvPr>
        </p:nvGraphicFramePr>
        <p:xfrm>
          <a:off x="5341325" y="3490547"/>
          <a:ext cx="490533" cy="461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AxMath" r:id="rId5" imgW="241920" imgH="227160" progId="Equation.AxMath">
                  <p:embed/>
                </p:oleObj>
              </mc:Choice>
              <mc:Fallback>
                <p:oleObj name="AxMath" r:id="rId5" imgW="241920" imgH="22716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41325" y="3490547"/>
                        <a:ext cx="490533" cy="461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物件 35">
            <a:extLst>
              <a:ext uri="{FF2B5EF4-FFF2-40B4-BE49-F238E27FC236}">
                <a16:creationId xmlns:a16="http://schemas.microsoft.com/office/drawing/2014/main" id="{268D7C30-4477-4DD4-B5CE-C41B0103CB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919223"/>
              </p:ext>
            </p:extLst>
          </p:nvPr>
        </p:nvGraphicFramePr>
        <p:xfrm>
          <a:off x="6879983" y="4268450"/>
          <a:ext cx="276060" cy="58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AxMath" r:id="rId7" imgW="108000" imgH="227160" progId="Equation.AxMath">
                  <p:embed/>
                </p:oleObj>
              </mc:Choice>
              <mc:Fallback>
                <p:oleObj name="AxMath" r:id="rId7" imgW="108000" imgH="22716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79983" y="4268450"/>
                        <a:ext cx="276060" cy="580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物件 36">
            <a:extLst>
              <a:ext uri="{FF2B5EF4-FFF2-40B4-BE49-F238E27FC236}">
                <a16:creationId xmlns:a16="http://schemas.microsoft.com/office/drawing/2014/main" id="{7B9857F0-2ABF-4EC9-8EA2-94CA488A19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25871"/>
              </p:ext>
            </p:extLst>
          </p:nvPr>
        </p:nvGraphicFramePr>
        <p:xfrm>
          <a:off x="6921532" y="3069805"/>
          <a:ext cx="393665" cy="566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AxMath" r:id="rId9" imgW="158760" imgH="228240" progId="Equation.AxMath">
                  <p:embed/>
                </p:oleObj>
              </mc:Choice>
              <mc:Fallback>
                <p:oleObj name="AxMath" r:id="rId9" imgW="158760" imgH="2282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21532" y="3069805"/>
                        <a:ext cx="393665" cy="566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物件 37">
            <a:extLst>
              <a:ext uri="{FF2B5EF4-FFF2-40B4-BE49-F238E27FC236}">
                <a16:creationId xmlns:a16="http://schemas.microsoft.com/office/drawing/2014/main" id="{3542DF93-4323-49AB-A75E-C38D9B42D7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039028"/>
              </p:ext>
            </p:extLst>
          </p:nvPr>
        </p:nvGraphicFramePr>
        <p:xfrm>
          <a:off x="3389662" y="4376614"/>
          <a:ext cx="391027" cy="574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AxMath" r:id="rId11" imgW="155880" imgH="228240" progId="Equation.AxMath">
                  <p:embed/>
                </p:oleObj>
              </mc:Choice>
              <mc:Fallback>
                <p:oleObj name="AxMath" r:id="rId11" imgW="155880" imgH="2282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89662" y="4376614"/>
                        <a:ext cx="391027" cy="574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物件 42">
            <a:extLst>
              <a:ext uri="{FF2B5EF4-FFF2-40B4-BE49-F238E27FC236}">
                <a16:creationId xmlns:a16="http://schemas.microsoft.com/office/drawing/2014/main" id="{F00CF13F-0679-46F7-8813-79B7AEF9BE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366011"/>
              </p:ext>
            </p:extLst>
          </p:nvPr>
        </p:nvGraphicFramePr>
        <p:xfrm>
          <a:off x="7889553" y="3261642"/>
          <a:ext cx="3915506" cy="523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AxMath" r:id="rId13" imgW="1711440" imgH="228240" progId="Equation.AxMath">
                  <p:embed/>
                </p:oleObj>
              </mc:Choice>
              <mc:Fallback>
                <p:oleObj name="AxMath" r:id="rId13" imgW="1711440" imgH="2282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89553" y="3261642"/>
                        <a:ext cx="3915506" cy="523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83E1FC8-B6A3-43B1-8D92-09181CFD7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236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8BCC64-A3D4-4652-9428-3781664CCD7C}"/>
              </a:ext>
            </a:extLst>
          </p:cNvPr>
          <p:cNvSpPr txBox="1"/>
          <p:nvPr/>
        </p:nvSpPr>
        <p:spPr>
          <a:xfrm>
            <a:off x="609600" y="563955"/>
            <a:ext cx="7503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Contents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B4B690-B910-45C3-B0D2-5A0BB9EA6509}"/>
              </a:ext>
            </a:extLst>
          </p:cNvPr>
          <p:cNvSpPr txBox="1"/>
          <p:nvPr/>
        </p:nvSpPr>
        <p:spPr>
          <a:xfrm>
            <a:off x="609599" y="1478355"/>
            <a:ext cx="1130617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Cross-section system construction</a:t>
            </a:r>
          </a:p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Flood flow computation</a:t>
            </a:r>
          </a:p>
          <a:p>
            <a:pPr marL="514350" indent="-514350">
              <a:buAutoNum type="arabicPeriod"/>
            </a:pPr>
            <a:r>
              <a:rPr lang="en-US" altLang="zh-TW" sz="3200" dirty="0"/>
              <a:t>Wave propagation analysis</a:t>
            </a:r>
          </a:p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Single-section analysis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08FD8A-5C73-4C2E-B24B-F0DB1266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FB88-A121-4C8A-8D1B-D8535CA0E9D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549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ult">
            <a:hlinkClick r:id="" action="ppaction://media"/>
            <a:extLst>
              <a:ext uri="{FF2B5EF4-FFF2-40B4-BE49-F238E27FC236}">
                <a16:creationId xmlns:a16="http://schemas.microsoft.com/office/drawing/2014/main" id="{05D5E2EB-5694-4290-9C48-187557CB716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11337" y="0"/>
            <a:ext cx="8569325" cy="6858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44608C-CD01-4EF5-8D55-9D90C8DD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86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9A76CB5-F555-49F5-A140-05747A11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07" y="485483"/>
            <a:ext cx="9758986" cy="588703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B521D54-809D-4234-AEA2-2F84A69A8B68}"/>
              </a:ext>
            </a:extLst>
          </p:cNvPr>
          <p:cNvSpPr txBox="1"/>
          <p:nvPr/>
        </p:nvSpPr>
        <p:spPr>
          <a:xfrm>
            <a:off x="307731" y="105508"/>
            <a:ext cx="472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A-t Plot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24933C-9725-45BA-BC67-41D5A9D6C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762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91C5874-F16E-4EFA-8650-4F955EE64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552" y="485483"/>
            <a:ext cx="9450895" cy="588703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B5FD690-CB27-4363-A5AA-2482A332BF69}"/>
              </a:ext>
            </a:extLst>
          </p:cNvPr>
          <p:cNvSpPr txBox="1"/>
          <p:nvPr/>
        </p:nvSpPr>
        <p:spPr>
          <a:xfrm>
            <a:off x="307731" y="105508"/>
            <a:ext cx="472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h-t Plot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C718B0-2CBD-436E-88B2-A8F1D475D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0563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F2512F7-B7F9-4F08-824C-844CEF9F1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33" y="540628"/>
            <a:ext cx="9031134" cy="577674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7EC0434-34F0-4B31-A5AB-2190B06B7225}"/>
              </a:ext>
            </a:extLst>
          </p:cNvPr>
          <p:cNvSpPr txBox="1"/>
          <p:nvPr/>
        </p:nvSpPr>
        <p:spPr>
          <a:xfrm>
            <a:off x="307731" y="105508"/>
            <a:ext cx="472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Q-t Plot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B654E7-991D-47E4-BC25-0B313C5C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2683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F63A287-7350-43E7-89AB-3C1D9DBE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160" y="687848"/>
            <a:ext cx="8847679" cy="548230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038A8AE-5C05-4129-883B-3F18CD207E8C}"/>
              </a:ext>
            </a:extLst>
          </p:cNvPr>
          <p:cNvSpPr txBox="1"/>
          <p:nvPr/>
        </p:nvSpPr>
        <p:spPr>
          <a:xfrm>
            <a:off x="307731" y="105508"/>
            <a:ext cx="472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X-t plot (</a:t>
            </a:r>
            <a:r>
              <a:rPr lang="en-US" altLang="zh-TW" dirty="0" err="1"/>
              <a:t>watlab</a:t>
            </a:r>
            <a:r>
              <a:rPr lang="en-US" altLang="zh-TW" dirty="0"/>
              <a:t> output time step = 60 [sec]. )</a:t>
            </a:r>
            <a:endParaRPr lang="zh-TW" altLang="en-US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BE3E587-8E2E-4709-98D9-88CBA5B6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660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2A429F3-7777-4748-ABDC-389F9F9EF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160" y="687849"/>
            <a:ext cx="8847679" cy="548230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ECDC8AB-E80B-4E39-8167-D95A0FC32E90}"/>
              </a:ext>
            </a:extLst>
          </p:cNvPr>
          <p:cNvSpPr txBox="1"/>
          <p:nvPr/>
        </p:nvSpPr>
        <p:spPr>
          <a:xfrm>
            <a:off x="307731" y="105508"/>
            <a:ext cx="472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X-t plot (</a:t>
            </a:r>
            <a:r>
              <a:rPr lang="en-US" altLang="zh-TW" dirty="0" err="1"/>
              <a:t>watlab</a:t>
            </a:r>
            <a:r>
              <a:rPr lang="en-US" altLang="zh-TW" dirty="0"/>
              <a:t> output time step = 30 [sec]. )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82FE89-E2D4-4454-AFC5-5E77FE52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8243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8BCC64-A3D4-4652-9428-3781664CCD7C}"/>
              </a:ext>
            </a:extLst>
          </p:cNvPr>
          <p:cNvSpPr txBox="1"/>
          <p:nvPr/>
        </p:nvSpPr>
        <p:spPr>
          <a:xfrm>
            <a:off x="609600" y="563955"/>
            <a:ext cx="7503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Contents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B4B690-B910-45C3-B0D2-5A0BB9EA6509}"/>
              </a:ext>
            </a:extLst>
          </p:cNvPr>
          <p:cNvSpPr txBox="1"/>
          <p:nvPr/>
        </p:nvSpPr>
        <p:spPr>
          <a:xfrm>
            <a:off x="609599" y="1478355"/>
            <a:ext cx="1130617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Cross-section system construction</a:t>
            </a:r>
          </a:p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Flood flow computation</a:t>
            </a:r>
          </a:p>
          <a:p>
            <a:pPr marL="514350" indent="-514350">
              <a:buAutoNum type="arabicPeriod"/>
            </a:pPr>
            <a:r>
              <a:rPr lang="en-US" altLang="zh-TW" sz="3200" dirty="0">
                <a:solidFill>
                  <a:schemeClr val="bg2">
                    <a:lumMod val="90000"/>
                  </a:schemeClr>
                </a:solidFill>
              </a:rPr>
              <a:t>Wave propagation analysis</a:t>
            </a:r>
          </a:p>
          <a:p>
            <a:pPr marL="514350" indent="-514350">
              <a:buAutoNum type="arabicPeriod"/>
            </a:pPr>
            <a:r>
              <a:rPr lang="en-US" altLang="zh-TW" sz="3200" dirty="0"/>
              <a:t>Single-section analysis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08FD8A-5C73-4C2E-B24B-F0DB1266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FB88-A121-4C8A-8D1B-D8535CA0E9D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885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e">
            <a:hlinkClick r:id="" action="ppaction://media"/>
            <a:extLst>
              <a:ext uri="{FF2B5EF4-FFF2-40B4-BE49-F238E27FC236}">
                <a16:creationId xmlns:a16="http://schemas.microsoft.com/office/drawing/2014/main" id="{F7ED6155-4688-4EED-8231-BB0EF97F08B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/>
          <a:srcRect l="24584" r="25733"/>
          <a:stretch/>
        </p:blipFill>
        <p:spPr>
          <a:xfrm>
            <a:off x="6531428" y="-1"/>
            <a:ext cx="5660572" cy="6858000"/>
          </a:xfrm>
          <a:prstGeom prst="rect">
            <a:avLst/>
          </a:prstGeom>
        </p:spPr>
      </p:pic>
      <p:pic>
        <p:nvPicPr>
          <p:cNvPr id="3" name="result">
            <a:hlinkClick r:id="" action="ppaction://media"/>
            <a:extLst>
              <a:ext uri="{FF2B5EF4-FFF2-40B4-BE49-F238E27FC236}">
                <a16:creationId xmlns:a16="http://schemas.microsoft.com/office/drawing/2014/main" id="{28D3032A-9F27-4EDE-9F24-D51E68706F4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7"/>
          <a:srcRect l="7842" r="7190"/>
          <a:stretch/>
        </p:blipFill>
        <p:spPr>
          <a:xfrm>
            <a:off x="0" y="1079643"/>
            <a:ext cx="6626225" cy="469871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5C63E71-ED12-42C4-89AD-E17ED5432398}"/>
              </a:ext>
            </a:extLst>
          </p:cNvPr>
          <p:cNvSpPr txBox="1"/>
          <p:nvPr/>
        </p:nvSpPr>
        <p:spPr>
          <a:xfrm>
            <a:off x="307731" y="105508"/>
            <a:ext cx="472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Single section analysis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ABB2F4-1430-4514-B79A-E5E7AADA5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028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ide">
            <a:hlinkClick r:id="" action="ppaction://media"/>
            <a:extLst>
              <a:ext uri="{FF2B5EF4-FFF2-40B4-BE49-F238E27FC236}">
                <a16:creationId xmlns:a16="http://schemas.microsoft.com/office/drawing/2014/main" id="{B32895B4-2A1B-4716-958F-0AB5833BEC4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1164" b="22116"/>
          <a:stretch/>
        </p:blipFill>
        <p:spPr>
          <a:xfrm>
            <a:off x="399256" y="1451428"/>
            <a:ext cx="11393488" cy="388982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5D23FBF-7E1E-46C9-8557-32D1F684F800}"/>
              </a:ext>
            </a:extLst>
          </p:cNvPr>
          <p:cNvSpPr txBox="1"/>
          <p:nvPr/>
        </p:nvSpPr>
        <p:spPr>
          <a:xfrm>
            <a:off x="307731" y="105508"/>
            <a:ext cx="472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Single section analysis (ex. Water depth)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86F4EB-0AAE-49D0-822A-756F2D73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60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46D8935-B23C-4A84-B909-AB9B3BEF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EA197-BE9F-4446-88ED-7492EBADE80C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3CD7CD8-B820-4D81-962D-B957AD0B79B7}"/>
              </a:ext>
            </a:extLst>
          </p:cNvPr>
          <p:cNvSpPr txBox="1"/>
          <p:nvPr/>
        </p:nvSpPr>
        <p:spPr>
          <a:xfrm>
            <a:off x="553915" y="228600"/>
            <a:ext cx="9094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Final presentation</a:t>
            </a:r>
            <a:endParaRPr lang="zh-TW" altLang="en-US" sz="36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5A9ECB2-CE20-41E8-A323-034FDC0F0465}"/>
              </a:ext>
            </a:extLst>
          </p:cNvPr>
          <p:cNvSpPr txBox="1"/>
          <p:nvPr/>
        </p:nvSpPr>
        <p:spPr>
          <a:xfrm>
            <a:off x="861646" y="1107831"/>
            <a:ext cx="99792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Final project (due Dec 8 on NTU COOL) 15 min group presentation</a:t>
            </a:r>
          </a:p>
          <a:p>
            <a:endParaRPr lang="en-US" altLang="zh-TW" sz="2400" dirty="0"/>
          </a:p>
          <a:p>
            <a:r>
              <a:rPr lang="en-US" altLang="zh-TW" sz="2400" dirty="0"/>
              <a:t>Required: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/>
              <a:t>Inflow:</a:t>
            </a:r>
            <a:r>
              <a:rPr lang="en-US" altLang="zh-TW" sz="2400" dirty="0"/>
              <a:t> Dam breach hydrograph calculation.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/>
              <a:t>Setup:</a:t>
            </a:r>
            <a:r>
              <a:rPr lang="en-US" altLang="zh-TW" sz="2400" dirty="0"/>
              <a:t> Mesh, BCs, model config.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/>
              <a:t>Analysis:</a:t>
            </a:r>
            <a:r>
              <a:rPr lang="en-US" altLang="zh-TW" sz="2400" dirty="0"/>
              <a:t> Wave propagation (x-t plots, peak attenuation) &amp; Kinematic wave comparison.</a:t>
            </a:r>
          </a:p>
          <a:p>
            <a:pPr marL="457200" indent="-457200">
              <a:buFont typeface="+mj-lt"/>
              <a:buAutoNum type="arabicPeriod"/>
            </a:pPr>
            <a:endParaRPr lang="en-US" altLang="zh-TW" sz="2400" dirty="0"/>
          </a:p>
          <a:p>
            <a:r>
              <a:rPr lang="en-US" altLang="zh-TW" sz="2400" dirty="0"/>
              <a:t>Bonus: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/>
              <a:t>Validation:</a:t>
            </a:r>
            <a:r>
              <a:rPr lang="en-US" altLang="zh-TW" sz="2400" dirty="0"/>
              <a:t> Calibration params &amp; survey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/>
              <a:t>Scenarios:</a:t>
            </a:r>
            <a:r>
              <a:rPr lang="en-US" altLang="zh-TW" sz="2400" dirty="0"/>
              <a:t> Sensitivity analysis</a:t>
            </a:r>
            <a:r>
              <a:rPr lang="zh-TW" altLang="en-US" sz="2400" dirty="0"/>
              <a:t> </a:t>
            </a:r>
            <a:r>
              <a:rPr lang="en-US" altLang="zh-TW" sz="2400" dirty="0"/>
              <a:t>with different dam breach assumptions.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/>
              <a:t>Hazard:</a:t>
            </a:r>
            <a:r>
              <a:rPr lang="en-US" altLang="zh-TW" sz="2400" dirty="0"/>
              <a:t> Downstream village risk, Evacuation area and guidelines</a:t>
            </a:r>
          </a:p>
        </p:txBody>
      </p:sp>
    </p:spTree>
    <p:extLst>
      <p:ext uri="{BB962C8B-B14F-4D97-AF65-F5344CB8AC3E}">
        <p14:creationId xmlns:p14="http://schemas.microsoft.com/office/powerpoint/2010/main" val="4158949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F64DF8D-0A9C-4851-9F87-4EBF443C6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786" y="1413049"/>
            <a:ext cx="4496427" cy="4496427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E50A077-07D4-4412-8FF6-911D67D1D899}"/>
              </a:ext>
            </a:extLst>
          </p:cNvPr>
          <p:cNvSpPr txBox="1"/>
          <p:nvPr/>
        </p:nvSpPr>
        <p:spPr>
          <a:xfrm>
            <a:off x="492369" y="272562"/>
            <a:ext cx="4598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/>
              <a:t>NTUCE Course Evaluation Form</a:t>
            </a:r>
            <a:endParaRPr lang="zh-TW" altLang="en-US" sz="24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A73C90A-E13F-4F60-9E25-18801E6B05AF}"/>
              </a:ext>
            </a:extLst>
          </p:cNvPr>
          <p:cNvSpPr txBox="1"/>
          <p:nvPr/>
        </p:nvSpPr>
        <p:spPr>
          <a:xfrm>
            <a:off x="747346" y="1012939"/>
            <a:ext cx="8178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Please fill this form before you leave the classroom. Thank you!</a:t>
            </a:r>
            <a:endParaRPr lang="zh-TW" altLang="en-US" sz="20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B7D5F6A-B4FC-43D8-8B67-BF19C457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AFD3E-A272-4D0C-8493-26F391982671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0624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234</Words>
  <Application>Microsoft Office PowerPoint</Application>
  <PresentationFormat>寬螢幕</PresentationFormat>
  <Paragraphs>70</Paragraphs>
  <Slides>18</Slides>
  <Notes>0</Notes>
  <HiddenSlides>0</HiddenSlides>
  <MMClips>4</MMClips>
  <ScaleCrop>false</ScaleCrop>
  <HeadingPairs>
    <vt:vector size="8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Office 佈景主題</vt:lpstr>
      <vt:lpstr>AxMath</vt:lpstr>
      <vt:lpstr>Watlab Flood Simulation post analysis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Watlab Flood Simulation Workflow</dc:title>
  <dc:creator>Yuan-Hung Chiu</dc:creator>
  <cp:lastModifiedBy>Yuan-Hung Chiu</cp:lastModifiedBy>
  <cp:revision>21</cp:revision>
  <dcterms:created xsi:type="dcterms:W3CDTF">2025-12-04T17:48:54Z</dcterms:created>
  <dcterms:modified xsi:type="dcterms:W3CDTF">2025-12-07T15:25:40Z</dcterms:modified>
</cp:coreProperties>
</file>