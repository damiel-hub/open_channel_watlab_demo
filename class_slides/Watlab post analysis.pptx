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87" r:id="rId3"/>
    <p:sldId id="827" r:id="rId4"/>
    <p:sldId id="826" r:id="rId5"/>
    <p:sldId id="828" r:id="rId6"/>
    <p:sldId id="829" r:id="rId7"/>
    <p:sldId id="824" r:id="rId8"/>
    <p:sldId id="825" r:id="rId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6" autoAdjust="0"/>
    <p:restoredTop sz="94660"/>
  </p:normalViewPr>
  <p:slideViewPr>
    <p:cSldViewPr snapToGrid="0">
      <p:cViewPr>
        <p:scale>
          <a:sx n="75" d="100"/>
          <a:sy n="75" d="100"/>
        </p:scale>
        <p:origin x="1812" y="8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4.wmf"/><Relationship Id="rId1" Type="http://schemas.openxmlformats.org/officeDocument/2006/relationships/image" Target="../media/image3.wmf"/><Relationship Id="rId6" Type="http://schemas.openxmlformats.org/officeDocument/2006/relationships/image" Target="../media/image8.wmf"/><Relationship Id="rId5" Type="http://schemas.openxmlformats.org/officeDocument/2006/relationships/image" Target="../media/image7.wmf"/><Relationship Id="rId4" Type="http://schemas.openxmlformats.org/officeDocument/2006/relationships/image" Target="../media/image6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6592EC-BE1B-4756-8709-E9288C120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EBB622D-F88D-4B8F-8C9B-A339A4D5D1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32344B0-F76F-4DB2-82F2-4494FF3DF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056F-48A7-43F1-8314-5FA08D73FB75}" type="datetimeFigureOut">
              <a:rPr lang="zh-TW" altLang="en-US" smtClean="0"/>
              <a:t>2025/12/6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AA8096B-9805-43D7-A47C-48F101CC9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DB51533-273D-4EC6-9F07-C84B6A05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415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A0EA0F-EFF6-43FC-BED6-6983CB7EC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62299AC-6297-4AA3-AF3C-6F7FF4947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5AC8004-6FED-418C-BF6E-73951A015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056F-48A7-43F1-8314-5FA08D73FB75}" type="datetimeFigureOut">
              <a:rPr lang="zh-TW" altLang="en-US" smtClean="0"/>
              <a:t>2025/12/6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3FC4A19-739F-446B-8E1A-B6AF28B66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4786558-CBA3-4688-A9A5-E55DF1DFF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50659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0B6216-C485-4BDE-BDB3-5F39C61B5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47F1680-C649-476B-B9A9-67C8A2B0EB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8F61BEB-B646-43E0-9A19-1CB18AD97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056F-48A7-43F1-8314-5FA08D73FB75}" type="datetimeFigureOut">
              <a:rPr lang="zh-TW" altLang="en-US" smtClean="0"/>
              <a:t>2025/12/6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6BDDF5C-811B-498E-B628-E11175C6C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0EB0CBE-0159-4C11-B2F4-7CD3A2915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550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3F73DF-8E5F-4609-83D1-B2415EF9B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344FE5B-8E06-4954-9C1F-CFC8636039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F56A201-4698-4D21-B427-B2D5B913FF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58C7344-8E5D-4995-BE8C-B79C44D7C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056F-48A7-43F1-8314-5FA08D73FB75}" type="datetimeFigureOut">
              <a:rPr lang="zh-TW" altLang="en-US" smtClean="0"/>
              <a:t>2025/12/6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3ACC9F3-5CF4-4D3C-80E9-221B6D9EF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E931100-4618-4B42-A7C2-5231C532E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8780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8DF179-600D-49C6-AB61-CAF571013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41DAD5F-CAD6-493C-9A31-CE5EB3DDBD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EF1E537-5E4D-4E58-94C1-618CB39036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39C80A2A-AD65-477A-A8EE-E64D770A13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22571AB-F37A-4FFA-8C42-62A6E71719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E6C5174-B2DB-44F9-999E-EADBFECFC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056F-48A7-43F1-8314-5FA08D73FB75}" type="datetimeFigureOut">
              <a:rPr lang="zh-TW" altLang="en-US" smtClean="0"/>
              <a:t>2025/12/6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49257CD6-5B4A-455B-ACE5-13A6ACF30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59529637-E2C6-480F-BB2C-F6678A19E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42884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5B14CB-0E76-4562-B741-D2D5D66B8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F4A881F1-8051-482C-AB35-A2F627206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056F-48A7-43F1-8314-5FA08D73FB75}" type="datetimeFigureOut">
              <a:rPr lang="zh-TW" altLang="en-US" smtClean="0"/>
              <a:t>2025/12/6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FA515B4-1AD0-41F6-A021-2CDBF6476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F9C4BB-8263-4D8A-8E37-3C2BBA467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681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5A0CB32-5F73-4B55-8E9B-D037B9376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056F-48A7-43F1-8314-5FA08D73FB75}" type="datetimeFigureOut">
              <a:rPr lang="zh-TW" altLang="en-US" smtClean="0"/>
              <a:t>2025/12/6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F51339E-0044-42B4-995D-63F8F6A8D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E9E0EA-5E48-4639-B18C-5DEF5ABFC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78661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FC0976-A2AF-4552-B6D6-6496F59C3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823219-5251-446A-8623-274D4C39E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2186484-C5D6-41C2-948F-D854F7EFCC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71C5C58-D3A6-4DFC-B393-D9007D083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056F-48A7-43F1-8314-5FA08D73FB75}" type="datetimeFigureOut">
              <a:rPr lang="zh-TW" altLang="en-US" smtClean="0"/>
              <a:t>2025/12/6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878DA6C-A56B-4A7D-9B7B-61744F690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B10EC22-883E-40CD-B328-207008B64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6756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288ACB-DC1A-4615-9EEF-C68939F2A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87D8D9CA-36E5-4F9B-9CF8-2AB9D03A4B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2432124-B777-4052-B59E-1DDAD5FB3A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D975AB1-7DB5-4B3F-A414-6497017AF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056F-48A7-43F1-8314-5FA08D73FB75}" type="datetimeFigureOut">
              <a:rPr lang="zh-TW" altLang="en-US" smtClean="0"/>
              <a:t>2025/12/6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9044982-AB68-46D2-941D-904DD6A3B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B0BD89B-12C0-4945-AAB6-339EEBE6D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0869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D64C70-A19A-4E62-80F0-423B31F8F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069A469-D570-4A45-ABCF-FBF895EA0F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E139F12-E25C-43F2-AD28-DCCF06793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056F-48A7-43F1-8314-5FA08D73FB75}" type="datetimeFigureOut">
              <a:rPr lang="zh-TW" altLang="en-US" smtClean="0"/>
              <a:t>2025/12/6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43CC53C-EDD3-48BA-8D0F-77C56D1B3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F5FE1EE-FE2B-4EC9-A660-39972E772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6793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E5F551F4-6FEF-47A3-8355-EECC01C33D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60F94CA-F3F5-4C7D-B4A6-1EF1754AA8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DDD546A-6F50-4408-A943-3A9616E6D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056F-48A7-43F1-8314-5FA08D73FB75}" type="datetimeFigureOut">
              <a:rPr lang="zh-TW" altLang="en-US" smtClean="0"/>
              <a:t>2025/12/6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5C985AD-9961-4282-94C1-3AFC4A17B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C5BC1B8-ADE1-4625-A0B3-430FD4C5F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4370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F292FD3D-F094-477E-9BF1-D48C6F2C2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9A1C005-5BD3-4452-AB43-9AA99502F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83EA247-EA05-4A88-A102-63105700C6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08056F-48A7-43F1-8314-5FA08D73FB75}" type="datetimeFigureOut">
              <a:rPr lang="zh-TW" altLang="en-US" smtClean="0"/>
              <a:t>2025/12/6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DE29BF3-61A1-4281-B0E7-45BF79DED4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C39B220-DC4B-4B17-889E-C173AB44C6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2428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wmf"/><Relationship Id="rId13" Type="http://schemas.openxmlformats.org/officeDocument/2006/relationships/oleObject" Target="../embeddings/oleObject6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7.wmf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4.w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2.bin"/><Relationship Id="rId10" Type="http://schemas.openxmlformats.org/officeDocument/2006/relationships/image" Target="../media/image6.wmf"/><Relationship Id="rId4" Type="http://schemas.openxmlformats.org/officeDocument/2006/relationships/image" Target="../media/image3.w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8.w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5E54D5-F143-424B-96F6-FCFC13C39A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 err="1"/>
              <a:t>Watlab</a:t>
            </a:r>
            <a:r>
              <a:rPr lang="en-US" altLang="zh-TW" dirty="0"/>
              <a:t> Flood Simulation post analysis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2517CE3-B5FE-4099-BAA5-B453AFB872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Yuan-Hung Chiu</a:t>
            </a:r>
          </a:p>
          <a:p>
            <a:r>
              <a:rPr lang="en-US" altLang="zh-TW" dirty="0"/>
              <a:t>2025/12/01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79286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A98BCC64-A3D4-4652-9428-3781664CCD7C}"/>
              </a:ext>
            </a:extLst>
          </p:cNvPr>
          <p:cNvSpPr txBox="1"/>
          <p:nvPr/>
        </p:nvSpPr>
        <p:spPr>
          <a:xfrm>
            <a:off x="609600" y="563955"/>
            <a:ext cx="7503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Contents</a:t>
            </a:r>
            <a:endParaRPr lang="zh-TW" altLang="en-US" sz="36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CB4B690-B910-45C3-B0D2-5A0BB9EA6509}"/>
              </a:ext>
            </a:extLst>
          </p:cNvPr>
          <p:cNvSpPr txBox="1"/>
          <p:nvPr/>
        </p:nvSpPr>
        <p:spPr>
          <a:xfrm>
            <a:off x="609599" y="1478355"/>
            <a:ext cx="1130617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altLang="zh-TW" sz="3200" dirty="0"/>
              <a:t>Build a cross-section</a:t>
            </a:r>
            <a:r>
              <a:rPr lang="zh-TW" altLang="en-US" sz="3200" dirty="0"/>
              <a:t> </a:t>
            </a:r>
            <a:r>
              <a:rPr lang="en-US" altLang="zh-TW" sz="3200" dirty="0"/>
              <a:t>system</a:t>
            </a:r>
          </a:p>
          <a:p>
            <a:pPr marL="514350" indent="-514350">
              <a:buAutoNum type="arabicPeriod"/>
            </a:pPr>
            <a:r>
              <a:rPr lang="en-US" altLang="zh-TW" sz="3200" dirty="0"/>
              <a:t>Compute the flood flow through the cross-section</a:t>
            </a:r>
          </a:p>
          <a:p>
            <a:pPr marL="514350" indent="-514350">
              <a:buAutoNum type="arabicPeriod"/>
            </a:pPr>
            <a:r>
              <a:rPr lang="en-US" altLang="zh-TW" sz="3200" dirty="0"/>
              <a:t>Wave propagation analysis</a:t>
            </a:r>
          </a:p>
          <a:p>
            <a:pPr marL="514350" indent="-514350">
              <a:buAutoNum type="arabicPeriod"/>
            </a:pPr>
            <a:r>
              <a:rPr lang="en-US" altLang="zh-TW" sz="3200" dirty="0"/>
              <a:t>Look at one section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08FD8A-5C73-4C2E-B24B-F0DB12664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0FB88-A121-4C8A-8D1B-D8535CA0E9DC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1471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57212213-F3FF-4B8A-B290-A2B59F70DF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4383" y="0"/>
            <a:ext cx="5231484" cy="68580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43F795EC-6A18-4DBC-9F6F-7B5DA2503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08" y="0"/>
            <a:ext cx="5231484" cy="685800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54BA02A4-AB2C-4B2B-85A4-005024F92E2E}"/>
              </a:ext>
            </a:extLst>
          </p:cNvPr>
          <p:cNvSpPr txBox="1"/>
          <p:nvPr/>
        </p:nvSpPr>
        <p:spPr>
          <a:xfrm>
            <a:off x="2628901" y="-19050"/>
            <a:ext cx="1276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Approach 1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0391AF4-FCC3-4BC9-A7E7-A207C6EB7DFC}"/>
              </a:ext>
            </a:extLst>
          </p:cNvPr>
          <p:cNvSpPr txBox="1"/>
          <p:nvPr/>
        </p:nvSpPr>
        <p:spPr>
          <a:xfrm>
            <a:off x="8486776" y="-19050"/>
            <a:ext cx="1276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Approach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21933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917D2110-13A4-42E3-8FDF-56A208E14B9A}"/>
              </a:ext>
            </a:extLst>
          </p:cNvPr>
          <p:cNvSpPr txBox="1"/>
          <p:nvPr/>
        </p:nvSpPr>
        <p:spPr>
          <a:xfrm>
            <a:off x="263769" y="158262"/>
            <a:ext cx="35169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Compute the flood </a:t>
            </a:r>
          </a:p>
        </p:txBody>
      </p:sp>
      <p:cxnSp>
        <p:nvCxnSpPr>
          <p:cNvPr id="4" name="直線接點 3">
            <a:extLst>
              <a:ext uri="{FF2B5EF4-FFF2-40B4-BE49-F238E27FC236}">
                <a16:creationId xmlns:a16="http://schemas.microsoft.com/office/drawing/2014/main" id="{99BAA197-4F4B-4033-A68F-5BCF87E98231}"/>
              </a:ext>
            </a:extLst>
          </p:cNvPr>
          <p:cNvCxnSpPr>
            <a:cxnSpLocks/>
          </p:cNvCxnSpPr>
          <p:nvPr/>
        </p:nvCxnSpPr>
        <p:spPr>
          <a:xfrm flipH="1">
            <a:off x="34367" y="-46159"/>
            <a:ext cx="7084423" cy="6904159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AB989F21-030A-4585-B7F7-87CA8D3C664C}"/>
              </a:ext>
            </a:extLst>
          </p:cNvPr>
          <p:cNvCxnSpPr>
            <a:cxnSpLocks/>
          </p:cNvCxnSpPr>
          <p:nvPr/>
        </p:nvCxnSpPr>
        <p:spPr>
          <a:xfrm>
            <a:off x="5249008" y="1776046"/>
            <a:ext cx="0" cy="33674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CBB60E55-3908-455D-8DA1-38BC8386F030}"/>
              </a:ext>
            </a:extLst>
          </p:cNvPr>
          <p:cNvCxnSpPr>
            <a:cxnSpLocks/>
          </p:cNvCxnSpPr>
          <p:nvPr/>
        </p:nvCxnSpPr>
        <p:spPr>
          <a:xfrm>
            <a:off x="1793631" y="5143500"/>
            <a:ext cx="345537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48AB18BC-9713-410D-96DC-81E716D8F993}"/>
              </a:ext>
            </a:extLst>
          </p:cNvPr>
          <p:cNvCxnSpPr>
            <a:cxnSpLocks/>
          </p:cNvCxnSpPr>
          <p:nvPr/>
        </p:nvCxnSpPr>
        <p:spPr>
          <a:xfrm>
            <a:off x="3516923" y="3429000"/>
            <a:ext cx="3363060" cy="1070429"/>
          </a:xfrm>
          <a:prstGeom prst="straightConnector1">
            <a:avLst/>
          </a:prstGeom>
          <a:ln w="571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橢圓 12">
            <a:extLst>
              <a:ext uri="{FF2B5EF4-FFF2-40B4-BE49-F238E27FC236}">
                <a16:creationId xmlns:a16="http://schemas.microsoft.com/office/drawing/2014/main" id="{3DB3EEBE-2393-4DA9-B0D8-494ADE69D11F}"/>
              </a:ext>
            </a:extLst>
          </p:cNvPr>
          <p:cNvSpPr/>
          <p:nvPr/>
        </p:nvSpPr>
        <p:spPr>
          <a:xfrm>
            <a:off x="1701312" y="5051181"/>
            <a:ext cx="184635" cy="184635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FD05E279-426D-4FCE-866B-B3DD5A3766CA}"/>
              </a:ext>
            </a:extLst>
          </p:cNvPr>
          <p:cNvSpPr/>
          <p:nvPr/>
        </p:nvSpPr>
        <p:spPr>
          <a:xfrm>
            <a:off x="5156690" y="1683727"/>
            <a:ext cx="184635" cy="184635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9AE3D872-5296-40DB-AF81-0EDDC1AA3905}"/>
              </a:ext>
            </a:extLst>
          </p:cNvPr>
          <p:cNvCxnSpPr>
            <a:cxnSpLocks/>
          </p:cNvCxnSpPr>
          <p:nvPr/>
        </p:nvCxnSpPr>
        <p:spPr>
          <a:xfrm>
            <a:off x="3516922" y="3459773"/>
            <a:ext cx="3363061" cy="0"/>
          </a:xfrm>
          <a:prstGeom prst="straightConnector1">
            <a:avLst/>
          </a:prstGeom>
          <a:ln w="571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6A3571ED-326E-491A-B2A3-ADF786C0AA4B}"/>
              </a:ext>
            </a:extLst>
          </p:cNvPr>
          <p:cNvCxnSpPr>
            <a:cxnSpLocks/>
          </p:cNvCxnSpPr>
          <p:nvPr/>
        </p:nvCxnSpPr>
        <p:spPr>
          <a:xfrm>
            <a:off x="3516922" y="3459773"/>
            <a:ext cx="0" cy="1039656"/>
          </a:xfrm>
          <a:prstGeom prst="straightConnector1">
            <a:avLst/>
          </a:prstGeom>
          <a:ln w="571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78596823-51DA-4A08-97A1-4B5DBF432A7B}"/>
              </a:ext>
            </a:extLst>
          </p:cNvPr>
          <p:cNvCxnSpPr>
            <a:cxnSpLocks/>
          </p:cNvCxnSpPr>
          <p:nvPr/>
        </p:nvCxnSpPr>
        <p:spPr>
          <a:xfrm>
            <a:off x="3516922" y="4499429"/>
            <a:ext cx="3363061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C36D9A9D-AD8B-42C0-9F68-F803AC1825FD}"/>
              </a:ext>
            </a:extLst>
          </p:cNvPr>
          <p:cNvCxnSpPr>
            <a:cxnSpLocks/>
          </p:cNvCxnSpPr>
          <p:nvPr/>
        </p:nvCxnSpPr>
        <p:spPr>
          <a:xfrm>
            <a:off x="6879983" y="3459773"/>
            <a:ext cx="0" cy="1039656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6BE12283-41CA-41CD-9A38-74797FB5C71B}"/>
              </a:ext>
            </a:extLst>
          </p:cNvPr>
          <p:cNvSpPr txBox="1"/>
          <p:nvPr/>
        </p:nvSpPr>
        <p:spPr>
          <a:xfrm rot="18909453">
            <a:off x="1391233" y="4206871"/>
            <a:ext cx="1349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Arial" panose="020B0604020202020204" pitchFamily="34" charset="0"/>
                <a:cs typeface="Arial" panose="020B0604020202020204" pitchFamily="34" charset="0"/>
              </a:rPr>
              <a:t>segment</a:t>
            </a:r>
            <a:endParaRPr lang="zh-TW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4" name="物件 33">
            <a:extLst>
              <a:ext uri="{FF2B5EF4-FFF2-40B4-BE49-F238E27FC236}">
                <a16:creationId xmlns:a16="http://schemas.microsoft.com/office/drawing/2014/main" id="{7E7A046D-96FD-4DE3-87AD-A7423A90B7B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9448670"/>
              </p:ext>
            </p:extLst>
          </p:nvPr>
        </p:nvGraphicFramePr>
        <p:xfrm>
          <a:off x="3199895" y="5143498"/>
          <a:ext cx="484079" cy="4614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3" name="AxMath" r:id="rId3" imgW="238680" imgH="227160" progId="Equation.AxMath">
                  <p:embed/>
                </p:oleObj>
              </mc:Choice>
              <mc:Fallback>
                <p:oleObj name="AxMath" r:id="rId3" imgW="238680" imgH="2271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199895" y="5143498"/>
                        <a:ext cx="484079" cy="4614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物件 34">
            <a:extLst>
              <a:ext uri="{FF2B5EF4-FFF2-40B4-BE49-F238E27FC236}">
                <a16:creationId xmlns:a16="http://schemas.microsoft.com/office/drawing/2014/main" id="{0B10FAE3-C092-4E7A-AB7D-6A1CDE97D42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9041871"/>
              </p:ext>
            </p:extLst>
          </p:nvPr>
        </p:nvGraphicFramePr>
        <p:xfrm>
          <a:off x="5341325" y="3490547"/>
          <a:ext cx="490533" cy="46148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4" name="AxMath" r:id="rId5" imgW="241920" imgH="227160" progId="Equation.AxMath">
                  <p:embed/>
                </p:oleObj>
              </mc:Choice>
              <mc:Fallback>
                <p:oleObj name="AxMath" r:id="rId5" imgW="241920" imgH="2271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341325" y="3490547"/>
                        <a:ext cx="490533" cy="46148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物件 35">
            <a:extLst>
              <a:ext uri="{FF2B5EF4-FFF2-40B4-BE49-F238E27FC236}">
                <a16:creationId xmlns:a16="http://schemas.microsoft.com/office/drawing/2014/main" id="{268D7C30-4477-4DD4-B5CE-C41B0103CB6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5919223"/>
              </p:ext>
            </p:extLst>
          </p:nvPr>
        </p:nvGraphicFramePr>
        <p:xfrm>
          <a:off x="6879983" y="4268450"/>
          <a:ext cx="276060" cy="5805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5" name="AxMath" r:id="rId7" imgW="108000" imgH="227160" progId="Equation.AxMath">
                  <p:embed/>
                </p:oleObj>
              </mc:Choice>
              <mc:Fallback>
                <p:oleObj name="AxMath" r:id="rId7" imgW="108000" imgH="2271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879983" y="4268450"/>
                        <a:ext cx="276060" cy="5805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" name="物件 36">
            <a:extLst>
              <a:ext uri="{FF2B5EF4-FFF2-40B4-BE49-F238E27FC236}">
                <a16:creationId xmlns:a16="http://schemas.microsoft.com/office/drawing/2014/main" id="{7B9857F0-2ABF-4EC9-8EA2-94CA488A197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7525871"/>
              </p:ext>
            </p:extLst>
          </p:nvPr>
        </p:nvGraphicFramePr>
        <p:xfrm>
          <a:off x="6921532" y="3069805"/>
          <a:ext cx="393665" cy="5668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6" name="AxMath" r:id="rId9" imgW="158760" imgH="228240" progId="Equation.AxMath">
                  <p:embed/>
                </p:oleObj>
              </mc:Choice>
              <mc:Fallback>
                <p:oleObj name="AxMath" r:id="rId9" imgW="158760" imgH="2282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921532" y="3069805"/>
                        <a:ext cx="393665" cy="56687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物件 37">
            <a:extLst>
              <a:ext uri="{FF2B5EF4-FFF2-40B4-BE49-F238E27FC236}">
                <a16:creationId xmlns:a16="http://schemas.microsoft.com/office/drawing/2014/main" id="{3542DF93-4323-49AB-A75E-C38D9B42D7A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2039028"/>
              </p:ext>
            </p:extLst>
          </p:nvPr>
        </p:nvGraphicFramePr>
        <p:xfrm>
          <a:off x="3389662" y="4376614"/>
          <a:ext cx="391027" cy="5745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7" name="AxMath" r:id="rId11" imgW="155880" imgH="228240" progId="Equation.AxMath">
                  <p:embed/>
                </p:oleObj>
              </mc:Choice>
              <mc:Fallback>
                <p:oleObj name="AxMath" r:id="rId11" imgW="155880" imgH="2282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3389662" y="4376614"/>
                        <a:ext cx="391027" cy="5745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" name="物件 42">
            <a:extLst>
              <a:ext uri="{FF2B5EF4-FFF2-40B4-BE49-F238E27FC236}">
                <a16:creationId xmlns:a16="http://schemas.microsoft.com/office/drawing/2014/main" id="{F00CF13F-0679-46F7-8813-79B7AEF9BED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0366011"/>
              </p:ext>
            </p:extLst>
          </p:nvPr>
        </p:nvGraphicFramePr>
        <p:xfrm>
          <a:off x="7889553" y="3261642"/>
          <a:ext cx="3915506" cy="5230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8" name="AxMath" r:id="rId13" imgW="1711440" imgH="228240" progId="Equation.AxMath">
                  <p:embed/>
                </p:oleObj>
              </mc:Choice>
              <mc:Fallback>
                <p:oleObj name="AxMath" r:id="rId13" imgW="1711440" imgH="2282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89553" y="3261642"/>
                        <a:ext cx="3915506" cy="52303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602361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result">
            <a:hlinkClick r:id="" action="ppaction://media"/>
            <a:extLst>
              <a:ext uri="{FF2B5EF4-FFF2-40B4-BE49-F238E27FC236}">
                <a16:creationId xmlns:a16="http://schemas.microsoft.com/office/drawing/2014/main" id="{05D5E2EB-5694-4290-9C48-187557CB716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811337" y="0"/>
            <a:ext cx="8569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864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8660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46D8935-B23C-4A84-B909-AB9B3BEFD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EA197-BE9F-4446-88ED-7492EBADE80C}" type="slidenum">
              <a:rPr lang="zh-TW" altLang="en-US" smtClean="0"/>
              <a:t>7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3CD7CD8-B820-4D81-962D-B957AD0B79B7}"/>
              </a:ext>
            </a:extLst>
          </p:cNvPr>
          <p:cNvSpPr txBox="1"/>
          <p:nvPr/>
        </p:nvSpPr>
        <p:spPr>
          <a:xfrm>
            <a:off x="553915" y="228600"/>
            <a:ext cx="90949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Final presentation</a:t>
            </a:r>
            <a:endParaRPr lang="zh-TW" altLang="en-US" sz="3600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5A9ECB2-CE20-41E8-A323-034FDC0F0465}"/>
              </a:ext>
            </a:extLst>
          </p:cNvPr>
          <p:cNvSpPr txBox="1"/>
          <p:nvPr/>
        </p:nvSpPr>
        <p:spPr>
          <a:xfrm>
            <a:off x="861646" y="1107831"/>
            <a:ext cx="997926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/>
              <a:t>Final Project (Due Dec 8 on NTU COOL) 15 min Group Presentation</a:t>
            </a:r>
          </a:p>
          <a:p>
            <a:endParaRPr lang="en-US" altLang="zh-TW" sz="2400" dirty="0"/>
          </a:p>
          <a:p>
            <a:r>
              <a:rPr lang="en-US" altLang="zh-TW" sz="2400" dirty="0"/>
              <a:t>Required: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b="1" dirty="0"/>
              <a:t>Inflow:</a:t>
            </a:r>
            <a:r>
              <a:rPr lang="en-US" altLang="zh-TW" sz="2400" dirty="0"/>
              <a:t> Dam breach hydrograph calculation.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b="1" dirty="0"/>
              <a:t>Setup:</a:t>
            </a:r>
            <a:r>
              <a:rPr lang="en-US" altLang="zh-TW" sz="2400" dirty="0"/>
              <a:t> Mesh, BCs, model config.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b="1" dirty="0"/>
              <a:t>Analysis:</a:t>
            </a:r>
            <a:r>
              <a:rPr lang="en-US" altLang="zh-TW" sz="2400" dirty="0"/>
              <a:t> Wave propagation (x-t plots, peak attenuation) &amp; Kinematic Wave comparison.</a:t>
            </a:r>
          </a:p>
          <a:p>
            <a:pPr marL="457200" indent="-457200">
              <a:buFont typeface="+mj-lt"/>
              <a:buAutoNum type="arabicPeriod"/>
            </a:pPr>
            <a:endParaRPr lang="en-US" altLang="zh-TW" sz="2400" dirty="0"/>
          </a:p>
          <a:p>
            <a:r>
              <a:rPr lang="en-US" altLang="zh-TW" sz="2400" dirty="0"/>
              <a:t>Bonus: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b="1" dirty="0"/>
              <a:t>Validation:</a:t>
            </a:r>
            <a:r>
              <a:rPr lang="en-US" altLang="zh-TW" sz="2400" dirty="0"/>
              <a:t> Calibration params &amp; survey data.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b="1" dirty="0"/>
              <a:t>Scenarios:</a:t>
            </a:r>
            <a:r>
              <a:rPr lang="en-US" altLang="zh-TW" sz="2400" dirty="0"/>
              <a:t> Sensitivity analysis</a:t>
            </a:r>
            <a:r>
              <a:rPr lang="zh-TW" altLang="en-US" sz="2400" dirty="0"/>
              <a:t> </a:t>
            </a:r>
            <a:r>
              <a:rPr lang="en-US" altLang="zh-TW" sz="2400" dirty="0"/>
              <a:t>with different dam breach assumptions.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b="1" dirty="0"/>
              <a:t>Hazard:</a:t>
            </a:r>
            <a:r>
              <a:rPr lang="en-US" altLang="zh-TW" sz="2400" dirty="0"/>
              <a:t> Downstream village risk, Evacuation area and guidelines</a:t>
            </a:r>
          </a:p>
        </p:txBody>
      </p:sp>
    </p:spTree>
    <p:extLst>
      <p:ext uri="{BB962C8B-B14F-4D97-AF65-F5344CB8AC3E}">
        <p14:creationId xmlns:p14="http://schemas.microsoft.com/office/powerpoint/2010/main" val="4158949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7F64DF8D-0A9C-4851-9F87-4EBF443C6E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7786" y="1180786"/>
            <a:ext cx="4496427" cy="4496427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7E50A077-07D4-4412-8FF6-911D67D1D899}"/>
              </a:ext>
            </a:extLst>
          </p:cNvPr>
          <p:cNvSpPr txBox="1"/>
          <p:nvPr/>
        </p:nvSpPr>
        <p:spPr>
          <a:xfrm>
            <a:off x="492369" y="272562"/>
            <a:ext cx="45983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NTUCE Course Evaluation Form</a:t>
            </a:r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A73C90A-E13F-4F60-9E25-18801E6B05AF}"/>
              </a:ext>
            </a:extLst>
          </p:cNvPr>
          <p:cNvSpPr txBox="1"/>
          <p:nvPr/>
        </p:nvSpPr>
        <p:spPr>
          <a:xfrm>
            <a:off x="747346" y="826477"/>
            <a:ext cx="75262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Please fill this form before you leave the classroom. Thank you!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10624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1395</TotalTime>
  <Words>134</Words>
  <Application>Microsoft Office PowerPoint</Application>
  <PresentationFormat>寬螢幕</PresentationFormat>
  <Paragraphs>28</Paragraphs>
  <Slides>8</Slides>
  <Notes>0</Notes>
  <HiddenSlides>0</HiddenSlides>
  <MMClips>1</MMClips>
  <ScaleCrop>false</ScaleCrop>
  <HeadingPairs>
    <vt:vector size="8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內嵌 OLE 伺服程式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Office 佈景主題</vt:lpstr>
      <vt:lpstr>Equation.AxMath</vt:lpstr>
      <vt:lpstr>Watlab Flood Simulation post analysis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Watlab Flood Simulation Workflow</dc:title>
  <dc:creator>Yuan-Hung Chiu</dc:creator>
  <cp:lastModifiedBy>Yuan-Hung Chiu</cp:lastModifiedBy>
  <cp:revision>16</cp:revision>
  <dcterms:created xsi:type="dcterms:W3CDTF">2025-12-04T17:48:54Z</dcterms:created>
  <dcterms:modified xsi:type="dcterms:W3CDTF">2025-12-07T13:37:00Z</dcterms:modified>
</cp:coreProperties>
</file>